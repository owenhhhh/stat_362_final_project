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60" r:id="rId5"/>
    <p:sldId id="261" r:id="rId6"/>
    <p:sldId id="262" r:id="rId7"/>
    <p:sldId id="270" r:id="rId8"/>
    <p:sldId id="271" r:id="rId9"/>
    <p:sldId id="263" r:id="rId10"/>
    <p:sldId id="272" r:id="rId11"/>
    <p:sldId id="264" r:id="rId12"/>
    <p:sldId id="269" r:id="rId13"/>
    <p:sldId id="273" r:id="rId14"/>
    <p:sldId id="265" r:id="rId15"/>
    <p:sldId id="266" r:id="rId16"/>
    <p:sldId id="267" r:id="rId17"/>
    <p:sldId id="268"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355" y="37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66442" y="1447801"/>
            <a:ext cx="662096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866442" y="4777380"/>
            <a:ext cx="662096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0146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44703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66443" y="2861734"/>
            <a:ext cx="662096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866442" y="4777381"/>
            <a:ext cx="662096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474481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27700" y="2060576"/>
            <a:ext cx="3298113"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241975" y="2056093"/>
            <a:ext cx="3298115"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78750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827700" y="1905000"/>
            <a:ext cx="3298112"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27700" y="2514600"/>
            <a:ext cx="3298113"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241976" y="1905000"/>
            <a:ext cx="3298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241976" y="2514600"/>
            <a:ext cx="3298113"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12/10/2025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24408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0830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7344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6441" y="1447800"/>
            <a:ext cx="2551462"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3589397" y="1447800"/>
            <a:ext cx="3898013"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66441" y="3129281"/>
            <a:ext cx="2551462"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723865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5656" y="1854192"/>
            <a:ext cx="3820674"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213517" y="1143000"/>
            <a:ext cx="2400925"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866441" y="3657600"/>
            <a:ext cx="3814728"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84285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6443" y="4800587"/>
            <a:ext cx="66209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866442" y="685800"/>
            <a:ext cx="662096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866443" y="5367325"/>
            <a:ext cx="662096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035304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66442" y="1447800"/>
            <a:ext cx="6620968"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866442" y="3657600"/>
            <a:ext cx="6620968"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404835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81409" y="1447800"/>
            <a:ext cx="6001049"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448177" y="3771174"/>
            <a:ext cx="546115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866442" y="4350657"/>
            <a:ext cx="6620968"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12" name="TextBox 11"/>
          <p:cNvSpPr txBox="1"/>
          <p:nvPr/>
        </p:nvSpPr>
        <p:spPr>
          <a:xfrm>
            <a:off x="673897" y="971253"/>
            <a:ext cx="601591"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sz="12200" dirty="0"/>
              <a:t>“</a:t>
            </a:r>
          </a:p>
        </p:txBody>
      </p:sp>
      <p:sp>
        <p:nvSpPr>
          <p:cNvPr id="15" name="TextBox 14"/>
          <p:cNvSpPr txBox="1"/>
          <p:nvPr/>
        </p:nvSpPr>
        <p:spPr>
          <a:xfrm>
            <a:off x="6999690" y="2613787"/>
            <a:ext cx="601591"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sz="12200" dirty="0"/>
              <a:t>”</a:t>
            </a:r>
          </a:p>
        </p:txBody>
      </p:sp>
    </p:spTree>
    <p:extLst>
      <p:ext uri="{BB962C8B-B14F-4D97-AF65-F5344CB8AC3E}">
        <p14:creationId xmlns:p14="http://schemas.microsoft.com/office/powerpoint/2010/main" val="3192495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66441" y="3124201"/>
            <a:ext cx="6620969"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866442" y="4777381"/>
            <a:ext cx="6620968"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436169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474834" y="1981200"/>
            <a:ext cx="22107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489475" y="2667000"/>
            <a:ext cx="219608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2913504" y="1981200"/>
            <a:ext cx="2202754"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2905586" y="2667000"/>
            <a:ext cx="2210671"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5344917" y="1981200"/>
            <a:ext cx="219965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5344917" y="2667000"/>
            <a:ext cx="2199658"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2795334"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5223030"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322131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489475" y="4250949"/>
            <a:ext cx="2205612"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489475" y="2209800"/>
            <a:ext cx="2205612"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489475" y="4827212"/>
            <a:ext cx="2205612"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2917792" y="4250949"/>
            <a:ext cx="21984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2917791" y="2209800"/>
            <a:ext cx="2198466"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2916776" y="4827211"/>
            <a:ext cx="2201378"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5344917" y="4250949"/>
            <a:ext cx="219965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5344916" y="2209800"/>
            <a:ext cx="2199658"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5344824" y="4827209"/>
            <a:ext cx="2202571"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2795334"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5223030"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477109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3753187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229782" y="430214"/>
            <a:ext cx="1314793"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489475" y="773205"/>
            <a:ext cx="5568812" cy="54831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224772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2" name="Oval 21"/>
          <p:cNvSpPr/>
          <p:nvPr/>
        </p:nvSpPr>
        <p:spPr>
          <a:xfrm>
            <a:off x="629943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5689832" y="-457200"/>
            <a:ext cx="1600200" cy="1600200"/>
          </a:xfrm>
          <a:prstGeom prst="ellipse">
            <a:avLst/>
          </a:prstGeom>
          <a:gradFill flip="none" rotWithShape="1">
            <a:gsLst>
              <a:gs pos="0">
                <a:schemeClr val="bg2">
                  <a:lumMod val="60000"/>
                  <a:lumOff val="40000"/>
                  <a:alpha val="14000"/>
                </a:schemeClr>
              </a:gs>
              <a:gs pos="73000">
                <a:schemeClr val="bg2">
                  <a:lumMod val="60000"/>
                  <a:lumOff val="40000"/>
                  <a:alpha val="0"/>
                </a:schemeClr>
              </a:gs>
              <a:gs pos="36000">
                <a:schemeClr val="bg2">
                  <a:lumMod val="60000"/>
                  <a:lumOff val="4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6299432" y="6096000"/>
            <a:ext cx="990600" cy="990600"/>
          </a:xfrm>
          <a:prstGeom prst="ellipse">
            <a:avLst/>
          </a:prstGeom>
          <a:gradFill flip="none" rotWithShape="1">
            <a:gsLst>
              <a:gs pos="0">
                <a:schemeClr val="bg2">
                  <a:lumMod val="60000"/>
                  <a:lumOff val="40000"/>
                  <a:alpha val="9000"/>
                </a:schemeClr>
              </a:gs>
              <a:gs pos="66000">
                <a:schemeClr val="bg2">
                  <a:lumMod val="60000"/>
                  <a:lumOff val="40000"/>
                  <a:alpha val="0"/>
                </a:schemeClr>
              </a:gs>
              <a:gs pos="36000">
                <a:schemeClr val="bg2">
                  <a:lumMod val="60000"/>
                  <a:lumOff val="40000"/>
                  <a:alpha val="5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153988" y="2667000"/>
            <a:ext cx="4191000" cy="4191000"/>
          </a:xfrm>
          <a:prstGeom prst="ellipse">
            <a:avLst/>
          </a:prstGeom>
          <a:gradFill flip="none" rotWithShape="1">
            <a:gsLst>
              <a:gs pos="0">
                <a:schemeClr val="bg2">
                  <a:lumMod val="60000"/>
                  <a:lumOff val="40000"/>
                  <a:alpha val="11000"/>
                </a:schemeClr>
              </a:gs>
              <a:gs pos="75000">
                <a:schemeClr val="bg2">
                  <a:lumMod val="60000"/>
                  <a:lumOff val="40000"/>
                  <a:alpha val="0"/>
                </a:schemeClr>
              </a:gs>
              <a:gs pos="36000">
                <a:schemeClr val="bg2">
                  <a:lumMod val="60000"/>
                  <a:lumOff val="4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39788" y="2895600"/>
            <a:ext cx="2362200" cy="2362200"/>
          </a:xfrm>
          <a:prstGeom prst="ellipse">
            <a:avLst/>
          </a:prstGeom>
          <a:gradFill flip="none" rotWithShape="1">
            <a:gsLst>
              <a:gs pos="0">
                <a:schemeClr val="bg2">
                  <a:lumMod val="60000"/>
                  <a:lumOff val="40000"/>
                  <a:alpha val="8000"/>
                </a:schemeClr>
              </a:gs>
              <a:gs pos="72000">
                <a:schemeClr val="bg2">
                  <a:lumMod val="60000"/>
                  <a:lumOff val="40000"/>
                  <a:alpha val="0"/>
                </a:schemeClr>
              </a:gs>
              <a:gs pos="36000">
                <a:schemeClr val="bg2">
                  <a:lumMod val="60000"/>
                  <a:lumOff val="4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Rectangle 18"/>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484710" y="452718"/>
            <a:ext cx="7055380"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827700" y="2052925"/>
            <a:ext cx="6711654"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7494989" y="1828771"/>
            <a:ext cx="990599" cy="22865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5BCAD085-E8A6-8845-BD4E-CB4CCA059FC4}" type="datetimeFigureOut">
              <a:rPr lang="en-US" smtClean="0"/>
              <a:t>12/10/2025</a:t>
            </a:fld>
            <a:endParaRPr lang="en-US"/>
          </a:p>
        </p:txBody>
      </p:sp>
      <p:sp>
        <p:nvSpPr>
          <p:cNvPr id="5" name="Footer Placeholder 4"/>
          <p:cNvSpPr>
            <a:spLocks noGrp="1"/>
          </p:cNvSpPr>
          <p:nvPr>
            <p:ph type="ftr" sz="quarter" idx="3"/>
          </p:nvPr>
        </p:nvSpPr>
        <p:spPr>
          <a:xfrm rot="5400000">
            <a:off x="6233335" y="3263371"/>
            <a:ext cx="3859795" cy="228660"/>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7766431" y="295736"/>
            <a:ext cx="628813" cy="767687"/>
          </a:xfrm>
          <a:prstGeom prst="rect">
            <a:avLst/>
          </a:prstGeom>
        </p:spPr>
        <p:txBody>
          <a:bodyPr vert="horz" lIns="91440" tIns="45720" rIns="91440" bIns="45720" rtlCol="0" anchor="b"/>
          <a:lstStyle>
            <a:lvl1pPr algn="ctr">
              <a:defRPr sz="2801" b="0" i="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441206947"/>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7"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6" indent="-342906" algn="l" defTabSz="457207"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62" indent="-285755" algn="l" defTabSz="457207"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20"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27"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34"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14642"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49"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57"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64"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7" rtl="0" eaLnBrk="1" latinLnBrk="0" hangingPunct="1">
        <a:defRPr sz="1800" kern="1200">
          <a:solidFill>
            <a:schemeClr val="tx1"/>
          </a:solidFill>
          <a:latin typeface="+mn-lt"/>
          <a:ea typeface="+mn-ea"/>
          <a:cs typeface="+mn-cs"/>
        </a:defRPr>
      </a:lvl1pPr>
      <a:lvl2pPr marL="457207" algn="l" defTabSz="457207" rtl="0" eaLnBrk="1" latinLnBrk="0" hangingPunct="1">
        <a:defRPr sz="1800" kern="1200">
          <a:solidFill>
            <a:schemeClr val="tx1"/>
          </a:solidFill>
          <a:latin typeface="+mn-lt"/>
          <a:ea typeface="+mn-ea"/>
          <a:cs typeface="+mn-cs"/>
        </a:defRPr>
      </a:lvl2pPr>
      <a:lvl3pPr marL="914415" algn="l" defTabSz="457207" rtl="0" eaLnBrk="1" latinLnBrk="0" hangingPunct="1">
        <a:defRPr sz="1800" kern="1200">
          <a:solidFill>
            <a:schemeClr val="tx1"/>
          </a:solidFill>
          <a:latin typeface="+mn-lt"/>
          <a:ea typeface="+mn-ea"/>
          <a:cs typeface="+mn-cs"/>
        </a:defRPr>
      </a:lvl3pPr>
      <a:lvl4pPr marL="1371622" algn="l" defTabSz="457207" rtl="0" eaLnBrk="1" latinLnBrk="0" hangingPunct="1">
        <a:defRPr sz="1800" kern="1200">
          <a:solidFill>
            <a:schemeClr val="tx1"/>
          </a:solidFill>
          <a:latin typeface="+mn-lt"/>
          <a:ea typeface="+mn-ea"/>
          <a:cs typeface="+mn-cs"/>
        </a:defRPr>
      </a:lvl4pPr>
      <a:lvl5pPr marL="1828831" algn="l" defTabSz="457207" rtl="0" eaLnBrk="1" latinLnBrk="0" hangingPunct="1">
        <a:defRPr sz="1800" kern="1200">
          <a:solidFill>
            <a:schemeClr val="tx1"/>
          </a:solidFill>
          <a:latin typeface="+mn-lt"/>
          <a:ea typeface="+mn-ea"/>
          <a:cs typeface="+mn-cs"/>
        </a:defRPr>
      </a:lvl5pPr>
      <a:lvl6pPr marL="2286038" algn="l" defTabSz="457207" rtl="0" eaLnBrk="1" latinLnBrk="0" hangingPunct="1">
        <a:defRPr sz="1800" kern="1200">
          <a:solidFill>
            <a:schemeClr val="tx1"/>
          </a:solidFill>
          <a:latin typeface="+mn-lt"/>
          <a:ea typeface="+mn-ea"/>
          <a:cs typeface="+mn-cs"/>
        </a:defRPr>
      </a:lvl6pPr>
      <a:lvl7pPr marL="2743246" algn="l" defTabSz="457207" rtl="0" eaLnBrk="1" latinLnBrk="0" hangingPunct="1">
        <a:defRPr sz="1800" kern="1200">
          <a:solidFill>
            <a:schemeClr val="tx1"/>
          </a:solidFill>
          <a:latin typeface="+mn-lt"/>
          <a:ea typeface="+mn-ea"/>
          <a:cs typeface="+mn-cs"/>
        </a:defRPr>
      </a:lvl7pPr>
      <a:lvl8pPr marL="3200453" algn="l" defTabSz="457207" rtl="0" eaLnBrk="1" latinLnBrk="0" hangingPunct="1">
        <a:defRPr sz="1800" kern="1200">
          <a:solidFill>
            <a:schemeClr val="tx1"/>
          </a:solidFill>
          <a:latin typeface="+mn-lt"/>
          <a:ea typeface="+mn-ea"/>
          <a:cs typeface="+mn-cs"/>
        </a:defRPr>
      </a:lvl8pPr>
      <a:lvl9pPr marL="3657661" algn="l" defTabSz="45720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praw-dev/praw" TargetMode="External"/><Relationship Id="rId2" Type="http://schemas.openxmlformats.org/officeDocument/2006/relationships/hyperlink" Target="https://keras.io/"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2B079C4-0B7C-73CA-9395-4C882D5E6858}"/>
              </a:ext>
            </a:extLst>
          </p:cNvPr>
          <p:cNvPicPr>
            <a:picLocks noChangeAspect="1"/>
          </p:cNvPicPr>
          <p:nvPr/>
        </p:nvPicPr>
        <p:blipFill>
          <a:blip r:embed="rId2"/>
          <a:stretch>
            <a:fillRect/>
          </a:stretch>
        </p:blipFill>
        <p:spPr>
          <a:xfrm>
            <a:off x="4572000" y="2478164"/>
            <a:ext cx="3960828" cy="3960828"/>
          </a:xfrm>
          <a:prstGeom prst="rect">
            <a:avLst/>
          </a:prstGeom>
        </p:spPr>
      </p:pic>
      <p:sp>
        <p:nvSpPr>
          <p:cNvPr id="2" name="Title 1"/>
          <p:cNvSpPr>
            <a:spLocks noGrp="1"/>
          </p:cNvSpPr>
          <p:nvPr>
            <p:ph type="ctrTitle"/>
          </p:nvPr>
        </p:nvSpPr>
        <p:spPr>
          <a:xfrm>
            <a:off x="83524" y="-100105"/>
            <a:ext cx="6620968" cy="3329581"/>
          </a:xfrm>
        </p:spPr>
        <p:txBody>
          <a:bodyPr/>
          <a:lstStyle/>
          <a:p>
            <a:r>
              <a:rPr lang="en-US" dirty="0"/>
              <a:t>Fan Sentiment Analysis</a:t>
            </a:r>
            <a:endParaRPr dirty="0"/>
          </a:p>
        </p:txBody>
      </p:sp>
      <p:sp>
        <p:nvSpPr>
          <p:cNvPr id="3" name="Subtitle 2"/>
          <p:cNvSpPr>
            <a:spLocks noGrp="1"/>
          </p:cNvSpPr>
          <p:nvPr>
            <p:ph type="subTitle" idx="1"/>
          </p:nvPr>
        </p:nvSpPr>
        <p:spPr>
          <a:xfrm>
            <a:off x="385483" y="3353678"/>
            <a:ext cx="6400800" cy="2209800"/>
          </a:xfrm>
        </p:spPr>
        <p:txBody>
          <a:bodyPr/>
          <a:lstStyle/>
          <a:p>
            <a:r>
              <a:rPr lang="en-US" dirty="0"/>
              <a:t>Owen Handelman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Problem &amp; Motivation</a:t>
            </a:r>
          </a:p>
        </p:txBody>
      </p:sp>
      <p:sp>
        <p:nvSpPr>
          <p:cNvPr id="3" name="Content Placeholder 2"/>
          <p:cNvSpPr>
            <a:spLocks noGrp="1"/>
          </p:cNvSpPr>
          <p:nvPr>
            <p:ph idx="1"/>
          </p:nvPr>
        </p:nvSpPr>
        <p:spPr>
          <a:xfrm>
            <a:off x="457200" y="1320282"/>
            <a:ext cx="8229600" cy="5537718"/>
          </a:xfrm>
        </p:spPr>
        <p:txBody>
          <a:bodyPr>
            <a:normAutofit/>
          </a:bodyPr>
          <a:lstStyle/>
          <a:p>
            <a:r>
              <a:rPr lang="en-US" dirty="0"/>
              <a:t>I want to determine if fan sentiment is predictive of the fan’s team winning or losing their next game</a:t>
            </a:r>
            <a:endParaRPr dirty="0"/>
          </a:p>
          <a:p>
            <a:r>
              <a:rPr lang="en-US" dirty="0"/>
              <a:t>Analyzing fan sentiment begins to quantify the “eye-test”, allows for greater context of already existing box stats and can potentially improve sports modelling</a:t>
            </a:r>
          </a:p>
          <a:p>
            <a:r>
              <a:rPr lang="en-US" dirty="0"/>
              <a:t>The goal if for the model to regress a sentiment vector that can then be used to predict if a team will win or lose a game.</a:t>
            </a:r>
          </a:p>
          <a:p>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Dataset Overview</a:t>
            </a:r>
          </a:p>
        </p:txBody>
      </p:sp>
      <p:sp>
        <p:nvSpPr>
          <p:cNvPr id="3" name="Content Placeholder 2"/>
          <p:cNvSpPr>
            <a:spLocks noGrp="1"/>
          </p:cNvSpPr>
          <p:nvPr>
            <p:ph idx="1"/>
          </p:nvPr>
        </p:nvSpPr>
        <p:spPr>
          <a:xfrm>
            <a:off x="457200" y="1290918"/>
            <a:ext cx="8229600" cy="5292444"/>
          </a:xfrm>
        </p:spPr>
        <p:txBody>
          <a:bodyPr>
            <a:normAutofit/>
          </a:bodyPr>
          <a:lstStyle/>
          <a:p>
            <a:r>
              <a:rPr lang="en-US" dirty="0"/>
              <a:t>Data was sourced from Reddit, Wikipedia, and SemEval-2017</a:t>
            </a:r>
          </a:p>
          <a:p>
            <a:r>
              <a:rPr lang="en-US" dirty="0"/>
              <a:t>comments from 425 Post Game Threads on Reddit, Schedule results from Wikipedia, 26500 labeled tweets from </a:t>
            </a:r>
            <a:r>
              <a:rPr lang="en-US" dirty="0" err="1"/>
              <a:t>SemEval</a:t>
            </a:r>
            <a:endParaRPr dirty="0"/>
          </a:p>
          <a:p>
            <a:r>
              <a:rPr lang="en-US" dirty="0"/>
              <a:t>The tweets were </a:t>
            </a:r>
            <a:r>
              <a:rPr lang="en-US" dirty="0" err="1"/>
              <a:t>amost</a:t>
            </a:r>
            <a:r>
              <a:rPr lang="en-US" dirty="0"/>
              <a:t> all under 40 characters and were labeled as positive, neutral, or negative</a:t>
            </a:r>
            <a:endParaRPr dirty="0"/>
          </a:p>
          <a:p>
            <a:r>
              <a:rPr lang="en-US" dirty="0"/>
              <a:t>The key preprocessing steps were cleaning the social media aspect of the tweets up (cleaning hashtags, links, emojis, </a:t>
            </a:r>
            <a:r>
              <a:rPr lang="en-US" dirty="0" err="1"/>
              <a:t>etc</a:t>
            </a:r>
            <a:r>
              <a:rPr lang="en-US" dirty="0"/>
              <a:t>) to a sequence of words, and then tokenizing the messages into vectors</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Model Architecture &amp; Design Choices</a:t>
            </a:r>
          </a:p>
        </p:txBody>
      </p:sp>
      <p:sp>
        <p:nvSpPr>
          <p:cNvPr id="3" name="Content Placeholder 2"/>
          <p:cNvSpPr>
            <a:spLocks noGrp="1"/>
          </p:cNvSpPr>
          <p:nvPr>
            <p:ph idx="1"/>
          </p:nvPr>
        </p:nvSpPr>
        <p:spPr>
          <a:xfrm>
            <a:off x="457200" y="1853248"/>
            <a:ext cx="8229600" cy="4730114"/>
          </a:xfrm>
        </p:spPr>
        <p:txBody>
          <a:bodyPr>
            <a:normAutofit/>
          </a:bodyPr>
          <a:lstStyle/>
          <a:p>
            <a:r>
              <a:rPr lang="en-US" dirty="0"/>
              <a:t>I used an LSTM design, using papers from successful competitors in SemEval-2017 to help guide the model construction</a:t>
            </a:r>
            <a:endParaRPr dirty="0"/>
          </a:p>
          <a:p>
            <a:r>
              <a:rPr lang="en-US" dirty="0"/>
              <a:t>Dropout was used in both LSTM layers, L2 regularization was used on the Dense output layer, and the Adam optimizer was used along with a batch size of 128</a:t>
            </a:r>
            <a:endParaRPr dirty="0"/>
          </a:p>
          <a:p>
            <a:r>
              <a:rPr lang="en-US" dirty="0"/>
              <a:t>LSTM is appropriate given the sequential nature of the data and the need to preserve context end-to-end, the focus on regularization is also appropriate as the model is prone to overfitting due to the number of parameters and the ease of overfitting</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Experimental Setup</a:t>
            </a:r>
          </a:p>
        </p:txBody>
      </p:sp>
      <p:sp>
        <p:nvSpPr>
          <p:cNvPr id="3" name="Content Placeholder 2"/>
          <p:cNvSpPr>
            <a:spLocks noGrp="1"/>
          </p:cNvSpPr>
          <p:nvPr>
            <p:ph idx="1"/>
          </p:nvPr>
        </p:nvSpPr>
        <p:spPr>
          <a:xfrm>
            <a:off x="457200" y="1600199"/>
            <a:ext cx="8229600" cy="4836459"/>
          </a:xfrm>
        </p:spPr>
        <p:txBody>
          <a:bodyPr>
            <a:normAutofit/>
          </a:bodyPr>
          <a:lstStyle/>
          <a:p>
            <a:r>
              <a:rPr lang="en-US" dirty="0"/>
              <a:t>The </a:t>
            </a:r>
            <a:r>
              <a:rPr lang="en-US" dirty="0" err="1"/>
              <a:t>SemEval</a:t>
            </a:r>
            <a:r>
              <a:rPr lang="en-US" dirty="0"/>
              <a:t> data came presplit into test and train data, I further split the train data into train and validation sets to allow for early stopping</a:t>
            </a:r>
            <a:endParaRPr dirty="0"/>
          </a:p>
          <a:p>
            <a:r>
              <a:rPr lang="en-US" dirty="0"/>
              <a:t>I was evaluating the model based primarily on loss as I cared about regression rather than classification, but I compared performance with models from papers using average recall and F1 averaged over the positive and negative classes</a:t>
            </a:r>
            <a:endParaRPr dirty="0"/>
          </a:p>
          <a:p>
            <a:r>
              <a:rPr lang="en-US" dirty="0"/>
              <a:t>I used </a:t>
            </a:r>
            <a:r>
              <a:rPr lang="en-US" dirty="0" err="1"/>
              <a:t>PyTorch</a:t>
            </a:r>
            <a:r>
              <a:rPr lang="en-US" dirty="0"/>
              <a:t> and </a:t>
            </a:r>
            <a:r>
              <a:rPr lang="en-US" dirty="0" err="1"/>
              <a:t>Keras</a:t>
            </a:r>
            <a:r>
              <a:rPr lang="en-US" dirty="0"/>
              <a:t> for the framework, and did everything but hyperparameter tuning locally, I used Google </a:t>
            </a:r>
            <a:r>
              <a:rPr lang="en-US" dirty="0" err="1"/>
              <a:t>Colab</a:t>
            </a:r>
            <a:r>
              <a:rPr lang="en-US" dirty="0"/>
              <a:t> for the tuning</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Results</a:t>
            </a:r>
          </a:p>
        </p:txBody>
      </p:sp>
      <p:sp>
        <p:nvSpPr>
          <p:cNvPr id="3" name="Content Placeholder 2"/>
          <p:cNvSpPr>
            <a:spLocks noGrp="1"/>
          </p:cNvSpPr>
          <p:nvPr>
            <p:ph idx="1"/>
          </p:nvPr>
        </p:nvSpPr>
        <p:spPr>
          <a:xfrm>
            <a:off x="457200" y="1159435"/>
            <a:ext cx="8229600" cy="5468471"/>
          </a:xfrm>
        </p:spPr>
        <p:txBody>
          <a:bodyPr>
            <a:normAutofit/>
          </a:bodyPr>
          <a:lstStyle/>
          <a:p>
            <a:r>
              <a:rPr lang="en-US" dirty="0"/>
              <a:t>My model significantly underperformed compared to the </a:t>
            </a:r>
            <a:r>
              <a:rPr lang="en-US" dirty="0" err="1"/>
              <a:t>Baziotis</a:t>
            </a:r>
            <a:r>
              <a:rPr lang="en-US" dirty="0"/>
              <a:t> et al. model, being about 20% points worse in recall largely due to poor performance on positive tweets</a:t>
            </a:r>
          </a:p>
          <a:p>
            <a:r>
              <a:rPr lang="en-US" dirty="0"/>
              <a:t>The best performing model set up had an embedding layer, two bidirectional LSTM layers, and a Dense output layer.</a:t>
            </a:r>
            <a:endParaRPr dirty="0"/>
          </a:p>
          <a:p>
            <a:r>
              <a:rPr lang="en-US" dirty="0"/>
              <a:t>The lacking embedding matrix and preprocessing steps in comparison resulted in significantly worse model performance. Poor sentiment analysis carried over to sports threads where analysis hurt prediction of future game outcomes</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D2B1B-2532-7F56-17FD-F6570562F9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E82F50-3506-4BF4-416A-048452C6B886}"/>
              </a:ext>
            </a:extLst>
          </p:cNvPr>
          <p:cNvSpPr>
            <a:spLocks noGrp="1"/>
          </p:cNvSpPr>
          <p:nvPr>
            <p:ph type="title"/>
          </p:nvPr>
        </p:nvSpPr>
        <p:spPr/>
        <p:txBody>
          <a:bodyPr/>
          <a:lstStyle/>
          <a:p>
            <a:r>
              <a:t>Visualizations</a:t>
            </a:r>
          </a:p>
        </p:txBody>
      </p:sp>
      <p:pic>
        <p:nvPicPr>
          <p:cNvPr id="7" name="Content Placeholder 6">
            <a:extLst>
              <a:ext uri="{FF2B5EF4-FFF2-40B4-BE49-F238E27FC236}">
                <a16:creationId xmlns:a16="http://schemas.microsoft.com/office/drawing/2014/main" id="{B43EF19D-9065-0141-7A24-5AC53B61B905}"/>
              </a:ext>
            </a:extLst>
          </p:cNvPr>
          <p:cNvPicPr>
            <a:picLocks noGrp="1" noChangeAspect="1"/>
          </p:cNvPicPr>
          <p:nvPr>
            <p:ph idx="1"/>
          </p:nvPr>
        </p:nvPicPr>
        <p:blipFill>
          <a:blip r:embed="rId2"/>
          <a:stretch>
            <a:fillRect/>
          </a:stretch>
        </p:blipFill>
        <p:spPr>
          <a:xfrm>
            <a:off x="457200" y="1688443"/>
            <a:ext cx="8229600" cy="2903170"/>
          </a:xfrm>
          <a:prstGeom prst="rect">
            <a:avLst/>
          </a:prstGeom>
        </p:spPr>
      </p:pic>
      <p:sp>
        <p:nvSpPr>
          <p:cNvPr id="9" name="TextBox 8">
            <a:extLst>
              <a:ext uri="{FF2B5EF4-FFF2-40B4-BE49-F238E27FC236}">
                <a16:creationId xmlns:a16="http://schemas.microsoft.com/office/drawing/2014/main" id="{76296D1E-871C-8B86-619B-0427A756DEE4}"/>
              </a:ext>
            </a:extLst>
          </p:cNvPr>
          <p:cNvSpPr txBox="1"/>
          <p:nvPr/>
        </p:nvSpPr>
        <p:spPr>
          <a:xfrm>
            <a:off x="1105647" y="4978400"/>
            <a:ext cx="6771341" cy="1200329"/>
          </a:xfrm>
          <a:prstGeom prst="rect">
            <a:avLst/>
          </a:prstGeom>
          <a:noFill/>
        </p:spPr>
        <p:txBody>
          <a:bodyPr wrap="square" rtlCol="0">
            <a:spAutoFit/>
          </a:bodyPr>
          <a:lstStyle/>
          <a:p>
            <a:r>
              <a:rPr lang="en-US" dirty="0"/>
              <a:t>Despite significantly increasing regularization strength, the model begins to overfit before good loss reduction. I believe the overfitting is largely down to issues with preprocessing as the messages are small and therefore small inaccuracies can be very costly.</a:t>
            </a:r>
          </a:p>
        </p:txBody>
      </p:sp>
    </p:spTree>
    <p:extLst>
      <p:ext uri="{BB962C8B-B14F-4D97-AF65-F5344CB8AC3E}">
        <p14:creationId xmlns:p14="http://schemas.microsoft.com/office/powerpoint/2010/main" val="33911530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83455-EA08-5BEB-1E2B-4578F5737B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095772-3509-B77E-1DC5-4E1E1E56FC0B}"/>
              </a:ext>
            </a:extLst>
          </p:cNvPr>
          <p:cNvSpPr>
            <a:spLocks noGrp="1"/>
          </p:cNvSpPr>
          <p:nvPr>
            <p:ph type="title"/>
          </p:nvPr>
        </p:nvSpPr>
        <p:spPr/>
        <p:txBody>
          <a:bodyPr/>
          <a:lstStyle/>
          <a:p>
            <a:r>
              <a:t>Visualizations</a:t>
            </a:r>
          </a:p>
        </p:txBody>
      </p:sp>
      <p:pic>
        <p:nvPicPr>
          <p:cNvPr id="5" name="Content Placeholder 4">
            <a:extLst>
              <a:ext uri="{FF2B5EF4-FFF2-40B4-BE49-F238E27FC236}">
                <a16:creationId xmlns:a16="http://schemas.microsoft.com/office/drawing/2014/main" id="{3B39AFDB-9D98-ABEA-EB47-C4A7D738C7A1}"/>
              </a:ext>
            </a:extLst>
          </p:cNvPr>
          <p:cNvPicPr>
            <a:picLocks noGrp="1" noChangeAspect="1"/>
          </p:cNvPicPr>
          <p:nvPr>
            <p:ph idx="1"/>
          </p:nvPr>
        </p:nvPicPr>
        <p:blipFill>
          <a:blip r:embed="rId2"/>
          <a:stretch>
            <a:fillRect/>
          </a:stretch>
        </p:blipFill>
        <p:spPr>
          <a:xfrm>
            <a:off x="1624787" y="1166018"/>
            <a:ext cx="5380449" cy="4525963"/>
          </a:xfrm>
          <a:prstGeom prst="rect">
            <a:avLst/>
          </a:prstGeom>
        </p:spPr>
      </p:pic>
      <p:sp>
        <p:nvSpPr>
          <p:cNvPr id="4" name="TextBox 3">
            <a:extLst>
              <a:ext uri="{FF2B5EF4-FFF2-40B4-BE49-F238E27FC236}">
                <a16:creationId xmlns:a16="http://schemas.microsoft.com/office/drawing/2014/main" id="{8C163460-0ADE-D227-2485-9BAF1FAE3A45}"/>
              </a:ext>
            </a:extLst>
          </p:cNvPr>
          <p:cNvSpPr txBox="1"/>
          <p:nvPr/>
        </p:nvSpPr>
        <p:spPr>
          <a:xfrm>
            <a:off x="1948329" y="5839012"/>
            <a:ext cx="5253318" cy="646331"/>
          </a:xfrm>
          <a:prstGeom prst="rect">
            <a:avLst/>
          </a:prstGeom>
          <a:noFill/>
        </p:spPr>
        <p:txBody>
          <a:bodyPr wrap="square" rtlCol="0">
            <a:spAutoFit/>
          </a:bodyPr>
          <a:lstStyle/>
          <a:p>
            <a:r>
              <a:rPr lang="en-US" dirty="0"/>
              <a:t>Model performance can be seen here, struggling especially with labeling positive tweets.</a:t>
            </a:r>
          </a:p>
        </p:txBody>
      </p:sp>
    </p:spTree>
    <p:extLst>
      <p:ext uri="{BB962C8B-B14F-4D97-AF65-F5344CB8AC3E}">
        <p14:creationId xmlns:p14="http://schemas.microsoft.com/office/powerpoint/2010/main" val="37834723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866588"/>
          </a:xfrm>
        </p:spPr>
        <p:txBody>
          <a:bodyPr>
            <a:normAutofit/>
          </a:bodyPr>
          <a:lstStyle/>
          <a:p>
            <a:r>
              <a:rPr dirty="0"/>
              <a:t>Visualizations</a:t>
            </a:r>
          </a:p>
        </p:txBody>
      </p:sp>
      <p:pic>
        <p:nvPicPr>
          <p:cNvPr id="9" name="Content Placeholder 8">
            <a:extLst>
              <a:ext uri="{FF2B5EF4-FFF2-40B4-BE49-F238E27FC236}">
                <a16:creationId xmlns:a16="http://schemas.microsoft.com/office/drawing/2014/main" id="{EAF5709D-9A6F-E1CA-8D6B-DE449B2EE66E}"/>
              </a:ext>
            </a:extLst>
          </p:cNvPr>
          <p:cNvPicPr>
            <a:picLocks noGrp="1" noChangeAspect="1"/>
          </p:cNvPicPr>
          <p:nvPr>
            <p:ph idx="1"/>
          </p:nvPr>
        </p:nvPicPr>
        <p:blipFill>
          <a:blip r:embed="rId2"/>
          <a:stretch>
            <a:fillRect/>
          </a:stretch>
        </p:blipFill>
        <p:spPr>
          <a:xfrm>
            <a:off x="2824760" y="792777"/>
            <a:ext cx="2680856" cy="4721510"/>
          </a:xfrm>
          <a:prstGeom prst="rect">
            <a:avLst/>
          </a:prstGeom>
        </p:spPr>
      </p:pic>
      <p:pic>
        <p:nvPicPr>
          <p:cNvPr id="16" name="Picture 15">
            <a:extLst>
              <a:ext uri="{FF2B5EF4-FFF2-40B4-BE49-F238E27FC236}">
                <a16:creationId xmlns:a16="http://schemas.microsoft.com/office/drawing/2014/main" id="{C9CD4895-4726-C414-E49B-98E3C1D4665F}"/>
              </a:ext>
            </a:extLst>
          </p:cNvPr>
          <p:cNvPicPr>
            <a:picLocks noChangeAspect="1"/>
          </p:cNvPicPr>
          <p:nvPr/>
        </p:nvPicPr>
        <p:blipFill>
          <a:blip r:embed="rId3"/>
          <a:stretch>
            <a:fillRect/>
          </a:stretch>
        </p:blipFill>
        <p:spPr>
          <a:xfrm>
            <a:off x="5564776" y="966095"/>
            <a:ext cx="3579224" cy="4227944"/>
          </a:xfrm>
          <a:prstGeom prst="rect">
            <a:avLst/>
          </a:prstGeom>
        </p:spPr>
      </p:pic>
      <p:sp>
        <p:nvSpPr>
          <p:cNvPr id="17" name="TextBox 16">
            <a:extLst>
              <a:ext uri="{FF2B5EF4-FFF2-40B4-BE49-F238E27FC236}">
                <a16:creationId xmlns:a16="http://schemas.microsoft.com/office/drawing/2014/main" id="{D000601E-D7CD-2574-7F80-CEB4C481EDE7}"/>
              </a:ext>
            </a:extLst>
          </p:cNvPr>
          <p:cNvSpPr txBox="1"/>
          <p:nvPr/>
        </p:nvSpPr>
        <p:spPr>
          <a:xfrm>
            <a:off x="549863" y="5797176"/>
            <a:ext cx="7996489" cy="923330"/>
          </a:xfrm>
          <a:prstGeom prst="rect">
            <a:avLst/>
          </a:prstGeom>
          <a:noFill/>
        </p:spPr>
        <p:txBody>
          <a:bodyPr wrap="square" rtlCol="0">
            <a:spAutoFit/>
          </a:bodyPr>
          <a:lstStyle/>
          <a:p>
            <a:r>
              <a:rPr lang="en-US" dirty="0"/>
              <a:t>The word clouds show a clear difference in what words are in the twitter and reddit dataset. As well as the difficulty in properly cleaning social media message sources.</a:t>
            </a:r>
          </a:p>
        </p:txBody>
      </p:sp>
      <p:pic>
        <p:nvPicPr>
          <p:cNvPr id="19" name="Picture 18">
            <a:extLst>
              <a:ext uri="{FF2B5EF4-FFF2-40B4-BE49-F238E27FC236}">
                <a16:creationId xmlns:a16="http://schemas.microsoft.com/office/drawing/2014/main" id="{ED721688-9057-68EB-2450-5A8262A2CB92}"/>
              </a:ext>
            </a:extLst>
          </p:cNvPr>
          <p:cNvPicPr>
            <a:picLocks noChangeAspect="1"/>
          </p:cNvPicPr>
          <p:nvPr/>
        </p:nvPicPr>
        <p:blipFill>
          <a:blip r:embed="rId4"/>
          <a:stretch>
            <a:fillRect/>
          </a:stretch>
        </p:blipFill>
        <p:spPr>
          <a:xfrm>
            <a:off x="84744" y="792777"/>
            <a:ext cx="2680856" cy="472150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8CE36-5B11-4445-C2F0-FF035B6EA9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F5710-962D-72A6-FDAD-D54CDBC53134}"/>
              </a:ext>
            </a:extLst>
          </p:cNvPr>
          <p:cNvSpPr>
            <a:spLocks noGrp="1"/>
          </p:cNvSpPr>
          <p:nvPr>
            <p:ph type="title"/>
          </p:nvPr>
        </p:nvSpPr>
        <p:spPr/>
        <p:txBody>
          <a:bodyPr/>
          <a:lstStyle/>
          <a:p>
            <a:r>
              <a:rPr dirty="0"/>
              <a:t>Visualizations</a:t>
            </a:r>
          </a:p>
        </p:txBody>
      </p:sp>
      <p:pic>
        <p:nvPicPr>
          <p:cNvPr id="6" name="Content Placeholder 5">
            <a:extLst>
              <a:ext uri="{FF2B5EF4-FFF2-40B4-BE49-F238E27FC236}">
                <a16:creationId xmlns:a16="http://schemas.microsoft.com/office/drawing/2014/main" id="{7D73D924-94A9-EA4A-B185-F1912F8966B5}"/>
              </a:ext>
            </a:extLst>
          </p:cNvPr>
          <p:cNvPicPr>
            <a:picLocks noGrp="1" noChangeAspect="1"/>
          </p:cNvPicPr>
          <p:nvPr>
            <p:ph idx="1"/>
          </p:nvPr>
        </p:nvPicPr>
        <p:blipFill>
          <a:blip r:embed="rId2"/>
          <a:stretch>
            <a:fillRect/>
          </a:stretch>
        </p:blipFill>
        <p:spPr>
          <a:xfrm>
            <a:off x="588682" y="1764307"/>
            <a:ext cx="2883014" cy="1461410"/>
          </a:xfrm>
          <a:prstGeom prst="rect">
            <a:avLst/>
          </a:prstGeom>
        </p:spPr>
      </p:pic>
      <p:pic>
        <p:nvPicPr>
          <p:cNvPr id="10" name="Picture 9">
            <a:extLst>
              <a:ext uri="{FF2B5EF4-FFF2-40B4-BE49-F238E27FC236}">
                <a16:creationId xmlns:a16="http://schemas.microsoft.com/office/drawing/2014/main" id="{28E25913-4E91-C496-2681-E01AE30825B7}"/>
              </a:ext>
            </a:extLst>
          </p:cNvPr>
          <p:cNvPicPr>
            <a:picLocks noChangeAspect="1"/>
          </p:cNvPicPr>
          <p:nvPr/>
        </p:nvPicPr>
        <p:blipFill>
          <a:blip r:embed="rId3"/>
          <a:stretch>
            <a:fillRect/>
          </a:stretch>
        </p:blipFill>
        <p:spPr>
          <a:xfrm>
            <a:off x="4073172" y="1122713"/>
            <a:ext cx="4706263" cy="5093079"/>
          </a:xfrm>
          <a:prstGeom prst="rect">
            <a:avLst/>
          </a:prstGeom>
        </p:spPr>
      </p:pic>
      <p:sp>
        <p:nvSpPr>
          <p:cNvPr id="11" name="TextBox 10">
            <a:extLst>
              <a:ext uri="{FF2B5EF4-FFF2-40B4-BE49-F238E27FC236}">
                <a16:creationId xmlns:a16="http://schemas.microsoft.com/office/drawing/2014/main" id="{1E664061-821F-7519-E71B-5AD732EF84CD}"/>
              </a:ext>
            </a:extLst>
          </p:cNvPr>
          <p:cNvSpPr txBox="1"/>
          <p:nvPr/>
        </p:nvSpPr>
        <p:spPr>
          <a:xfrm>
            <a:off x="364565" y="3632284"/>
            <a:ext cx="3285530" cy="2585323"/>
          </a:xfrm>
          <a:prstGeom prst="rect">
            <a:avLst/>
          </a:prstGeom>
          <a:noFill/>
        </p:spPr>
        <p:txBody>
          <a:bodyPr wrap="square" rtlCol="0">
            <a:spAutoFit/>
          </a:bodyPr>
          <a:lstStyle/>
          <a:p>
            <a:r>
              <a:rPr lang="en-US" dirty="0"/>
              <a:t>The failure of the twitter model to adequately capture sentiment from the sports thread can be seen here with a logistic regression model trained on just previous game outcome, sentiment vector, and both predictors. The sentiment vector fails to improve predictive power.</a:t>
            </a:r>
          </a:p>
        </p:txBody>
      </p:sp>
    </p:spTree>
    <p:extLst>
      <p:ext uri="{BB962C8B-B14F-4D97-AF65-F5344CB8AC3E}">
        <p14:creationId xmlns:p14="http://schemas.microsoft.com/office/powerpoint/2010/main" val="21808825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Insights &amp; Limitations</a:t>
            </a:r>
          </a:p>
        </p:txBody>
      </p:sp>
      <p:sp>
        <p:nvSpPr>
          <p:cNvPr id="3" name="Content Placeholder 2"/>
          <p:cNvSpPr>
            <a:spLocks noGrp="1"/>
          </p:cNvSpPr>
          <p:nvPr>
            <p:ph idx="1"/>
          </p:nvPr>
        </p:nvSpPr>
        <p:spPr>
          <a:xfrm>
            <a:off x="457200" y="1600200"/>
            <a:ext cx="8229600" cy="4983162"/>
          </a:xfrm>
        </p:spPr>
        <p:txBody>
          <a:bodyPr>
            <a:normAutofit fontScale="92500" lnSpcReduction="10000"/>
          </a:bodyPr>
          <a:lstStyle/>
          <a:p>
            <a:r>
              <a:rPr lang="en-US" dirty="0"/>
              <a:t>The importance of context specific preprocessing of data, especially sequence data where errors and inaccuracies can propagate and prevent contextual understanding</a:t>
            </a:r>
          </a:p>
          <a:p>
            <a:r>
              <a:rPr lang="en-US" dirty="0"/>
              <a:t>Narrow contextual connection between any sources. Movie semantic datasets fail to perform well when analyzing twitter datasets. Despite sentiment being somewhat universal, the unique avenues different parts of the internet have in expressing it causes generalizability across niches to be poor.</a:t>
            </a:r>
            <a:endParaRPr dirty="0"/>
          </a:p>
          <a:p>
            <a:r>
              <a:rPr lang="en-US" dirty="0"/>
              <a:t>The biggest limitation was the lack of connection between available labeled text and the threads I was trying to apply it to.</a:t>
            </a:r>
            <a:endParaRPr dirty="0"/>
          </a:p>
          <a:p>
            <a:r>
              <a:rPr lang="en-US" dirty="0"/>
              <a:t>Given more time, I would focus on completing an unlabeled encoder-decoder approach, which would be much more suited to capturing the nuance of communication in niches. I think a more focused approach would result in much better performance in predicting future team performance as a win or loss, at least equaling the ability of previous game outcome</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27604-2610-CF56-8124-C171F8D44C7B}"/>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1022CC09-5016-94D7-0A30-C85514B9795F}"/>
              </a:ext>
            </a:extLst>
          </p:cNvPr>
          <p:cNvSpPr>
            <a:spLocks noGrp="1"/>
          </p:cNvSpPr>
          <p:nvPr>
            <p:ph idx="1"/>
          </p:nvPr>
        </p:nvSpPr>
        <p:spPr>
          <a:xfrm>
            <a:off x="457200" y="1600200"/>
            <a:ext cx="8229600" cy="4983162"/>
          </a:xfrm>
        </p:spPr>
        <p:txBody>
          <a:bodyPr>
            <a:normAutofit/>
          </a:bodyPr>
          <a:lstStyle/>
          <a:p>
            <a:r>
              <a:rPr lang="en-US" dirty="0"/>
              <a:t>Using a labelled twitter dataset, a LSTM model was constructed to produce a sentiment vector that covered positive, neutral, and negative sentiment.</a:t>
            </a:r>
          </a:p>
          <a:p>
            <a:r>
              <a:rPr lang="en-US" dirty="0"/>
              <a:t>This model was then used to analyze the sentiment of Reddit post game discussions to be used in predicted later team performance</a:t>
            </a:r>
          </a:p>
          <a:p>
            <a:r>
              <a:rPr lang="en-US" dirty="0"/>
              <a:t>A dedicated encoder-decoder approach focused entirely on the same messages would likely outperform </a:t>
            </a:r>
          </a:p>
        </p:txBody>
      </p:sp>
    </p:spTree>
    <p:extLst>
      <p:ext uri="{BB962C8B-B14F-4D97-AF65-F5344CB8AC3E}">
        <p14:creationId xmlns:p14="http://schemas.microsoft.com/office/powerpoint/2010/main" val="34888124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2B11DA6-AFF6-60FB-3C06-01E201AA807F}"/>
              </a:ext>
            </a:extLst>
          </p:cNvPr>
          <p:cNvSpPr txBox="1"/>
          <p:nvPr/>
        </p:nvSpPr>
        <p:spPr>
          <a:xfrm>
            <a:off x="974165" y="2330823"/>
            <a:ext cx="4763247" cy="1200329"/>
          </a:xfrm>
          <a:prstGeom prst="rect">
            <a:avLst/>
          </a:prstGeom>
          <a:noFill/>
        </p:spPr>
        <p:txBody>
          <a:bodyPr wrap="square" rtlCol="0">
            <a:spAutoFit/>
          </a:bodyPr>
          <a:lstStyle/>
          <a:p>
            <a:r>
              <a:rPr lang="en-US" sz="7200" dirty="0"/>
              <a:t>Thank You</a:t>
            </a:r>
          </a:p>
        </p:txBody>
      </p:sp>
    </p:spTree>
    <p:extLst>
      <p:ext uri="{BB962C8B-B14F-4D97-AF65-F5344CB8AC3E}">
        <p14:creationId xmlns:p14="http://schemas.microsoft.com/office/powerpoint/2010/main" val="39766156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1275" y="279401"/>
            <a:ext cx="7055380" cy="1400530"/>
          </a:xfrm>
        </p:spPr>
        <p:txBody>
          <a:bodyPr>
            <a:normAutofit/>
          </a:bodyPr>
          <a:lstStyle/>
          <a:p>
            <a:r>
              <a:rPr dirty="0"/>
              <a:t>Reflection &amp; Lessons </a:t>
            </a:r>
            <a:r>
              <a:rPr lang="en-US" dirty="0"/>
              <a:t>Learned</a:t>
            </a:r>
            <a:endParaRPr dirty="0"/>
          </a:p>
        </p:txBody>
      </p:sp>
      <p:sp>
        <p:nvSpPr>
          <p:cNvPr id="3" name="Content Placeholder 2"/>
          <p:cNvSpPr>
            <a:spLocks noGrp="1"/>
          </p:cNvSpPr>
          <p:nvPr>
            <p:ph idx="1"/>
          </p:nvPr>
        </p:nvSpPr>
        <p:spPr>
          <a:xfrm>
            <a:off x="457200" y="1600200"/>
            <a:ext cx="8229600" cy="5212976"/>
          </a:xfrm>
        </p:spPr>
        <p:txBody>
          <a:bodyPr>
            <a:normAutofit fontScale="77500" lnSpcReduction="20000"/>
          </a:bodyPr>
          <a:lstStyle/>
          <a:p>
            <a:r>
              <a:rPr lang="en-US" dirty="0"/>
              <a:t>The main problem I anticipated was developing a functional encoder-decoder setup which was my first approach. It did not work, largely due to the required size of the context vector given the intended use case of predicting outcomes of games and only having 425 datapoints requiring the semantic vector to be small.</a:t>
            </a:r>
          </a:p>
          <a:p>
            <a:r>
              <a:rPr lang="en-US" dirty="0"/>
              <a:t>I then encountered significant problems with preprocessing social media messages that severely hurt model performance, I ended up trying to do a more bespoke preprocessing step than just using the built in </a:t>
            </a:r>
            <a:r>
              <a:rPr lang="en-US" dirty="0" err="1"/>
              <a:t>Keras</a:t>
            </a:r>
            <a:r>
              <a:rPr lang="en-US" dirty="0"/>
              <a:t> tokenizer with </a:t>
            </a:r>
            <a:r>
              <a:rPr lang="en-US" dirty="0" err="1"/>
              <a:t>Ekpharasis</a:t>
            </a:r>
            <a:r>
              <a:rPr lang="en-US" dirty="0"/>
              <a:t>. However, I still could not fully clean the twitter data, notably having issues with one and two letter “words” appearing much more frequently then should (even in tweets).</a:t>
            </a:r>
          </a:p>
          <a:p>
            <a:r>
              <a:rPr lang="en-US" dirty="0"/>
              <a:t>After my first attempts with an encoder-decoder I switched towards looking at labelled data that would allow me to produce a sentiment vector that is small and theoretically robust enough to be effective when applied to sports discourse.</a:t>
            </a:r>
            <a:endParaRPr dirty="0"/>
          </a:p>
          <a:p>
            <a:r>
              <a:rPr lang="en-US" dirty="0"/>
              <a:t>The biggest lesson I learned was to be more flexible in how I approach deep learning problems, through tearing my hair out over the twitter data and fitting it to reddit comment sections I realized how to shorten comment trees so that the context vector would work with the limited dataset size of games</a:t>
            </a:r>
          </a:p>
          <a:p>
            <a:r>
              <a:rPr lang="en-US" dirty="0"/>
              <a:t>Another lesson I learned was to plan backup plans more thoroughly, and to be willing to change rapidly when it comes to model selection and overall analytical approach to solving the same problem.</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t>AI Tools and Assistance (Disclosure – Course-only</a:t>
            </a:r>
            <a:r>
              <a:rPr lang="en-US" dirty="0"/>
              <a:t>, optional to present</a:t>
            </a:r>
            <a:r>
              <a:rPr dirty="0"/>
              <a:t>)</a:t>
            </a:r>
          </a:p>
        </p:txBody>
      </p:sp>
      <p:sp>
        <p:nvSpPr>
          <p:cNvPr id="3" name="Content Placeholder 2"/>
          <p:cNvSpPr>
            <a:spLocks noGrp="1"/>
          </p:cNvSpPr>
          <p:nvPr>
            <p:ph idx="1"/>
          </p:nvPr>
        </p:nvSpPr>
        <p:spPr>
          <a:xfrm>
            <a:off x="827700" y="2390588"/>
            <a:ext cx="6711654" cy="3857818"/>
          </a:xfrm>
        </p:spPr>
        <p:txBody>
          <a:bodyPr>
            <a:normAutofit/>
          </a:bodyPr>
          <a:lstStyle/>
          <a:p>
            <a:r>
              <a:rPr lang="en-US" dirty="0"/>
              <a:t>Gemini was used to help debug word cloud generation and PRAW issues. There was not a lot to modify when it came to suggestions as they were mostly related to syntax issues with these libraries.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Pr marL="0" indent="0">
              <a:buNone/>
            </a:pPr>
            <a:r>
              <a:rPr lang="en-US" dirty="0" err="1"/>
              <a:t>Baziotis</a:t>
            </a:r>
            <a:r>
              <a:rPr lang="en-US" dirty="0"/>
              <a:t>, Christos, et al. </a:t>
            </a:r>
            <a:r>
              <a:rPr lang="en-US" dirty="0" err="1"/>
              <a:t>DataStories</a:t>
            </a:r>
            <a:r>
              <a:rPr lang="en-US" dirty="0"/>
              <a:t> at SemEval-2017 Task 4: Deep LSTM with Attention for Message-Level and Topic-Based Sentiment Analysis. Association for Computational Linguistics, 2017. </a:t>
            </a:r>
          </a:p>
          <a:p>
            <a:pPr marL="0" indent="0">
              <a:buNone/>
            </a:pPr>
            <a:r>
              <a:rPr lang="en-US" dirty="0"/>
              <a:t>Chollet, F., &amp; Others. (2015). </a:t>
            </a:r>
            <a:r>
              <a:rPr lang="en-US" dirty="0" err="1"/>
              <a:t>Keras</a:t>
            </a:r>
            <a:r>
              <a:rPr lang="en-US" dirty="0"/>
              <a:t>. Retrieved from </a:t>
            </a:r>
            <a:r>
              <a:rPr lang="en-US" dirty="0">
                <a:hlinkClick r:id="rId2"/>
              </a:rPr>
              <a:t>https://keras.io</a:t>
            </a:r>
            <a:endParaRPr lang="en-US" dirty="0"/>
          </a:p>
          <a:p>
            <a:pPr marL="0" indent="0">
              <a:buNone/>
            </a:pPr>
            <a:r>
              <a:rPr lang="en-US" dirty="0"/>
              <a:t>Boe, B (2017). </a:t>
            </a:r>
            <a:r>
              <a:rPr lang="en-US" i="1" dirty="0" err="1"/>
              <a:t>Praw</a:t>
            </a:r>
            <a:r>
              <a:rPr lang="en-US" i="1" dirty="0"/>
              <a:t>: The Python Reddit API Wrapper</a:t>
            </a:r>
            <a:r>
              <a:rPr lang="en-US" dirty="0"/>
              <a:t>. [Software] Available from </a:t>
            </a:r>
            <a:r>
              <a:rPr lang="en-US" u="sng" dirty="0">
                <a:hlinkClick r:id="rId3"/>
              </a:rPr>
              <a:t>https://github.com/praw-dev/praw</a:t>
            </a:r>
            <a:endParaRPr lang="en-US" dirty="0"/>
          </a:p>
          <a:p>
            <a:pPr marL="0" indent="0">
              <a:buNone/>
            </a:pP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Backup / Appendix (Optional)</a:t>
            </a:r>
          </a:p>
        </p:txBody>
      </p:sp>
      <p:sp>
        <p:nvSpPr>
          <p:cNvPr id="3" name="Content Placeholder 2"/>
          <p:cNvSpPr>
            <a:spLocks noGrp="1"/>
          </p:cNvSpPr>
          <p:nvPr>
            <p:ph idx="1"/>
          </p:nvPr>
        </p:nvSpPr>
        <p:spPr/>
        <p:txBody>
          <a:bodyPr/>
          <a:lstStyle/>
          <a:p>
            <a:r>
              <a:t>Extra plots, ablation studies, or diagnostic results.</a:t>
            </a:r>
          </a:p>
          <a:p>
            <a:r>
              <a:t>Details you may show only if there is time or during Q&amp;A.</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F9C9D"/>
      </a:accent5>
      <a:accent6>
        <a:srgbClr val="9E5E9B"/>
      </a:accent6>
      <a:hlink>
        <a:srgbClr val="58C1BA"/>
      </a:hlink>
      <a:folHlink>
        <a:srgbClr val="9DD0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1274</TotalTime>
  <Words>1214</Words>
  <Application>Microsoft Office PowerPoint</Application>
  <PresentationFormat>On-screen Show (4:3)</PresentationFormat>
  <Paragraphs>56</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Century Gothic</vt:lpstr>
      <vt:lpstr>Wingdings 3</vt:lpstr>
      <vt:lpstr>Ion</vt:lpstr>
      <vt:lpstr>Fan Sentiment Analysis</vt:lpstr>
      <vt:lpstr>Problem &amp; Motivation</vt:lpstr>
      <vt:lpstr>Dataset Overview</vt:lpstr>
      <vt:lpstr>Model Architecture &amp; Design Choices</vt:lpstr>
      <vt:lpstr>Experimental Setup</vt:lpstr>
      <vt:lpstr>Key Results</vt:lpstr>
      <vt:lpstr>Visualizations</vt:lpstr>
      <vt:lpstr>Visualizations</vt:lpstr>
      <vt:lpstr>Visualizations</vt:lpstr>
      <vt:lpstr>Visualizations</vt:lpstr>
      <vt:lpstr>Insights &amp; Limitations</vt:lpstr>
      <vt:lpstr>Conclusion</vt:lpstr>
      <vt:lpstr>PowerPoint Presentation</vt:lpstr>
      <vt:lpstr>Reflection &amp; Lessons Learned</vt:lpstr>
      <vt:lpstr>AI Tools and Assistance (Disclosure – Course-only, optional to present)</vt:lpstr>
      <vt:lpstr>References</vt:lpstr>
      <vt:lpstr>Backup / Appendix (Optional)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Owen Handelman</cp:lastModifiedBy>
  <cp:revision>4</cp:revision>
  <dcterms:created xsi:type="dcterms:W3CDTF">2013-01-27T09:14:16Z</dcterms:created>
  <dcterms:modified xsi:type="dcterms:W3CDTF">2025-12-11T04:36:13Z</dcterms:modified>
  <cp:category/>
</cp:coreProperties>
</file>